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8288000" cy="10287000"/>
  <p:notesSz cx="6858000" cy="9144000"/>
  <p:embeddedFontLst>
    <p:embeddedFont>
      <p:font typeface="Arial Bold" panose="020B0704020202020204" pitchFamily="34" charset="0"/>
      <p:regular r:id="rId9"/>
      <p:bold r:id="rId10"/>
    </p:embeddedFont>
    <p:embeddedFont>
      <p:font typeface="Arimo" panose="020B0604020202020204" charset="0"/>
      <p:regular r:id="rId11"/>
    </p:embeddedFont>
    <p:embeddedFont>
      <p:font typeface="Arimo Bold" panose="020B0604020202020204" charset="0"/>
      <p:regular r:id="rId12"/>
    </p:embeddedFont>
    <p:embeddedFont>
      <p:font typeface="Calibri (MS)" panose="020B0604020202020204" charset="0"/>
      <p:regular r:id="rId13"/>
    </p:embeddedFont>
    <p:embeddedFont>
      <p:font typeface="Garamond Bold" panose="020B0604020202020204" charset="0"/>
      <p:regular r:id="rId14"/>
    </p:embeddedFont>
    <p:embeddedFont>
      <p:font typeface="Times New Roman Bold" panose="02020803070505020304" pitchFamily="18" charset="0"/>
      <p:regular r:id="rId15"/>
      <p:bold r:id="rId1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font" Target="fonts/font5.fntdata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4.fntdata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8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font" Target="fonts/font7.fntdata"/><Relationship Id="rId10" Type="http://schemas.openxmlformats.org/officeDocument/2006/relationships/font" Target="fonts/font2.fntdata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font" Target="fonts/font6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22.09.2026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8485165" y="1277283"/>
            <a:ext cx="6957908" cy="7732452"/>
          </a:xfrm>
          <a:custGeom>
            <a:avLst/>
            <a:gdLst/>
            <a:ahLst/>
            <a:cxnLst/>
            <a:rect l="l" t="t" r="r" b="b"/>
            <a:pathLst>
              <a:path w="6957908" h="7732452">
                <a:moveTo>
                  <a:pt x="0" y="0"/>
                </a:moveTo>
                <a:lnTo>
                  <a:pt x="6957908" y="0"/>
                </a:lnTo>
                <a:lnTo>
                  <a:pt x="6957908" y="7732453"/>
                </a:lnTo>
                <a:lnTo>
                  <a:pt x="0" y="773245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0282333" y="2573817"/>
            <a:ext cx="4805267" cy="5139357"/>
            <a:chOff x="0" y="0"/>
            <a:chExt cx="6407023" cy="6852476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6407023" cy="6852412"/>
            </a:xfrm>
            <a:custGeom>
              <a:avLst/>
              <a:gdLst/>
              <a:ahLst/>
              <a:cxnLst/>
              <a:rect l="l" t="t" r="r" b="b"/>
              <a:pathLst>
                <a:path w="6407023" h="6852412">
                  <a:moveTo>
                    <a:pt x="0" y="0"/>
                  </a:moveTo>
                  <a:lnTo>
                    <a:pt x="6407023" y="0"/>
                  </a:lnTo>
                  <a:lnTo>
                    <a:pt x="6407023" y="6852412"/>
                  </a:lnTo>
                  <a:lnTo>
                    <a:pt x="0" y="68524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49475" b="-1"/>
              </a:stretch>
            </a:blipFill>
          </p:spPr>
        </p:sp>
      </p:grpSp>
      <p:sp>
        <p:nvSpPr>
          <p:cNvPr id="5" name="TextBox 5"/>
          <p:cNvSpPr txBox="1"/>
          <p:nvPr/>
        </p:nvSpPr>
        <p:spPr>
          <a:xfrm>
            <a:off x="1959969" y="990067"/>
            <a:ext cx="12618720" cy="25660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759"/>
              </a:lnSpc>
            </a:pPr>
            <a:endParaRPr/>
          </a:p>
          <a:p>
            <a:pPr algn="ctr">
              <a:lnSpc>
                <a:spcPts val="5759"/>
              </a:lnSpc>
            </a:pPr>
            <a:r>
              <a:rPr lang="en-US" sz="4800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TITLE PAGE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496929" y="-790137"/>
            <a:ext cx="15544800" cy="3114675"/>
            <a:chOff x="0" y="0"/>
            <a:chExt cx="20726400" cy="41529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0726400" cy="4152900"/>
            </a:xfrm>
            <a:custGeom>
              <a:avLst/>
              <a:gdLst/>
              <a:ahLst/>
              <a:cxnLst/>
              <a:rect l="l" t="t" r="r" b="b"/>
              <a:pathLst>
                <a:path w="20726400" h="4152900">
                  <a:moveTo>
                    <a:pt x="0" y="0"/>
                  </a:moveTo>
                  <a:lnTo>
                    <a:pt x="20726400" y="0"/>
                  </a:lnTo>
                  <a:lnTo>
                    <a:pt x="20726400" y="4152900"/>
                  </a:lnTo>
                  <a:lnTo>
                    <a:pt x="0" y="41529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47246" b="-47246"/>
              </a:stretch>
            </a:blipFill>
          </p:spPr>
        </p:sp>
        <p:sp>
          <p:nvSpPr>
            <p:cNvPr id="8" name="TextBox 8"/>
            <p:cNvSpPr txBox="1"/>
            <p:nvPr/>
          </p:nvSpPr>
          <p:spPr>
            <a:xfrm>
              <a:off x="0" y="-19050"/>
              <a:ext cx="20726400" cy="41719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7200"/>
                </a:lnSpc>
              </a:pPr>
              <a:r>
                <a:rPr lang="en-US" sz="6000" b="1">
                  <a:solidFill>
                    <a:srgbClr val="1F497D"/>
                  </a:solidFill>
                  <a:latin typeface="Garamond Bold"/>
                  <a:ea typeface="Garamond Bold"/>
                  <a:cs typeface="Garamond Bold"/>
                  <a:sym typeface="Garamond Bold"/>
                </a:rPr>
                <a:t>SMART INDIA HACKATHON 2026</a:t>
              </a:r>
            </a:p>
          </p:txBody>
        </p:sp>
      </p:grpSp>
      <p:sp>
        <p:nvSpPr>
          <p:cNvPr id="9" name="Freeform 9"/>
          <p:cNvSpPr/>
          <p:nvPr/>
        </p:nvSpPr>
        <p:spPr>
          <a:xfrm>
            <a:off x="15087600" y="0"/>
            <a:ext cx="3315677" cy="1810465"/>
          </a:xfrm>
          <a:custGeom>
            <a:avLst/>
            <a:gdLst/>
            <a:ahLst/>
            <a:cxnLst/>
            <a:rect l="l" t="t" r="r" b="b"/>
            <a:pathLst>
              <a:path w="3315677" h="1810465">
                <a:moveTo>
                  <a:pt x="0" y="0"/>
                </a:moveTo>
                <a:lnTo>
                  <a:pt x="3315677" y="0"/>
                </a:lnTo>
                <a:lnTo>
                  <a:pt x="3315677" y="1810465"/>
                </a:lnTo>
                <a:lnTo>
                  <a:pt x="0" y="181046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228600" y="3131820"/>
            <a:ext cx="9455077" cy="71081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endParaRPr dirty="0"/>
          </a:p>
          <a:p>
            <a:pPr marL="651510" lvl="1" indent="-325755" algn="just">
              <a:lnSpc>
                <a:spcPct val="150000"/>
              </a:lnSpc>
              <a:buFont typeface="Arial"/>
              <a:buChar char="•"/>
            </a:pPr>
            <a:r>
              <a:rPr lang="en-US" sz="3200" b="1" dirty="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Problem Statement ID – </a:t>
            </a:r>
            <a:r>
              <a:rPr lang="en-US" sz="3200" dirty="0"/>
              <a:t>26006</a:t>
            </a:r>
            <a:endParaRPr lang="en-US" sz="3200" dirty="0">
              <a:solidFill>
                <a:srgbClr val="000000"/>
              </a:solidFill>
              <a:latin typeface="Arial Bold"/>
              <a:ea typeface="Arial Bold"/>
              <a:cs typeface="Arial Bold"/>
              <a:sym typeface="Arial Bold"/>
            </a:endParaRPr>
          </a:p>
          <a:p>
            <a:pPr marL="651510" lvl="1" indent="-325755" algn="just">
              <a:lnSpc>
                <a:spcPct val="150000"/>
              </a:lnSpc>
              <a:buFont typeface="Arial"/>
              <a:buChar char="•"/>
            </a:pPr>
            <a:r>
              <a:rPr lang="en-US" sz="3200" b="1" dirty="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Problem Statement Title- </a:t>
            </a:r>
            <a:r>
              <a:rPr lang="en-US" sz="3200" dirty="0"/>
              <a:t>Development of an Intelligent Freight Forecasting Model for Optimized Vessel Chartering and Bulk Cargo Procurement from overseas to East Coast of India</a:t>
            </a:r>
            <a:endParaRPr lang="en-US" sz="3200" b="1" dirty="0">
              <a:solidFill>
                <a:srgbClr val="000000"/>
              </a:solidFill>
              <a:latin typeface="Arial Bold"/>
              <a:ea typeface="Arial Bold"/>
              <a:cs typeface="Arial Bold"/>
              <a:sym typeface="Arial Bold"/>
            </a:endParaRPr>
          </a:p>
          <a:p>
            <a:pPr marL="651510" lvl="1" indent="-325755" algn="just">
              <a:lnSpc>
                <a:spcPct val="150000"/>
              </a:lnSpc>
              <a:buFont typeface="Arial"/>
              <a:buChar char="•"/>
            </a:pPr>
            <a:r>
              <a:rPr lang="en-US" sz="3200" b="1" dirty="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Theme- </a:t>
            </a:r>
            <a:r>
              <a:rPr lang="en-US" sz="3200" dirty="0"/>
              <a:t>Transportation &amp; Logistics</a:t>
            </a:r>
            <a:endParaRPr lang="en-US" sz="3200" b="1" dirty="0">
              <a:solidFill>
                <a:srgbClr val="000000"/>
              </a:solidFill>
              <a:latin typeface="Arial Bold"/>
              <a:ea typeface="Arial Bold"/>
              <a:cs typeface="Arial Bold"/>
              <a:sym typeface="Arial Bold"/>
            </a:endParaRPr>
          </a:p>
          <a:p>
            <a:pPr marL="651510" lvl="1" indent="-325755" algn="just">
              <a:lnSpc>
                <a:spcPct val="150000"/>
              </a:lnSpc>
              <a:buFont typeface="Arial"/>
              <a:buChar char="•"/>
            </a:pPr>
            <a:r>
              <a:rPr lang="en-US" sz="3200" b="1" dirty="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PS Category- Software</a:t>
            </a:r>
          </a:p>
          <a:p>
            <a:pPr marL="651510" lvl="1" indent="-325755" algn="just">
              <a:lnSpc>
                <a:spcPct val="150000"/>
              </a:lnSpc>
              <a:buFont typeface="Arial"/>
              <a:buChar char="•"/>
            </a:pPr>
            <a:r>
              <a:rPr lang="en-US" sz="3200" b="1" dirty="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Team ID-</a:t>
            </a:r>
          </a:p>
          <a:p>
            <a:pPr marL="651510" lvl="1" indent="-325755" algn="just">
              <a:lnSpc>
                <a:spcPct val="150000"/>
              </a:lnSpc>
              <a:buFont typeface="Arial"/>
              <a:buChar char="•"/>
            </a:pPr>
            <a:r>
              <a:rPr lang="en-US" sz="3200" b="1" dirty="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Team Name- </a:t>
            </a:r>
            <a:r>
              <a:rPr lang="en-US" sz="3200" b="1" dirty="0" err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CargoNex</a:t>
            </a:r>
            <a:endParaRPr lang="en-US" sz="3200" b="1" dirty="0">
              <a:solidFill>
                <a:srgbClr val="000000"/>
              </a:solidFill>
              <a:latin typeface="Arial Bold"/>
              <a:ea typeface="Arial Bold"/>
              <a:cs typeface="Arial Bold"/>
              <a:sym typeface="Arial Bol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9532144"/>
            <a:ext cx="18288000" cy="754856"/>
            <a:chOff x="0" y="0"/>
            <a:chExt cx="24384000" cy="100647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006475"/>
            </a:xfrm>
            <a:custGeom>
              <a:avLst/>
              <a:gdLst/>
              <a:ahLst/>
              <a:cxnLst/>
              <a:rect l="l" t="t" r="r" b="b"/>
              <a:pathLst>
                <a:path w="24384000" h="1006475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274501" y="0"/>
            <a:ext cx="16459200" cy="1714500"/>
            <a:chOff x="0" y="0"/>
            <a:chExt cx="21945600" cy="228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1945600" cy="2286000"/>
            </a:xfrm>
            <a:custGeom>
              <a:avLst/>
              <a:gdLst/>
              <a:ahLst/>
              <a:cxnLst/>
              <a:rect l="l" t="t" r="r" b="b"/>
              <a:pathLst>
                <a:path w="21945600" h="22860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37056" b="-137056"/>
              </a:stretch>
            </a:blipFill>
          </p:spPr>
        </p:sp>
        <p:sp>
          <p:nvSpPr>
            <p:cNvPr id="6" name="TextBox 6"/>
            <p:cNvSpPr txBox="1"/>
            <p:nvPr/>
          </p:nvSpPr>
          <p:spPr>
            <a:xfrm>
              <a:off x="0" y="-28575"/>
              <a:ext cx="21945600" cy="231457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6480"/>
                </a:lnSpc>
              </a:pPr>
              <a:endParaRPr/>
            </a:p>
            <a:p>
              <a:pPr algn="ctr">
                <a:lnSpc>
                  <a:spcPts val="6480"/>
                </a:lnSpc>
              </a:pPr>
              <a:r>
                <a:rPr lang="en-US" sz="5400" b="1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IDEA TITLE</a:t>
              </a:r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72390" y="3124048"/>
            <a:ext cx="18105120" cy="6804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868680" lvl="1" indent="-434340" algn="l">
              <a:lnSpc>
                <a:spcPts val="5759"/>
              </a:lnSpc>
              <a:buFont typeface="Arial"/>
              <a:buChar char="•"/>
            </a:pPr>
            <a:endParaRPr lang="en-US" sz="420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8" name="Group 8"/>
          <p:cNvGrpSpPr/>
          <p:nvPr/>
        </p:nvGrpSpPr>
        <p:grpSpPr>
          <a:xfrm>
            <a:off x="13106400" y="9534525"/>
            <a:ext cx="4267200" cy="547688"/>
            <a:chOff x="0" y="0"/>
            <a:chExt cx="5689600" cy="73025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5689600" cy="730250"/>
            </a:xfrm>
            <a:custGeom>
              <a:avLst/>
              <a:gdLst/>
              <a:ahLst/>
              <a:cxnLst/>
              <a:rect l="l" t="t" r="r" b="b"/>
              <a:pathLst>
                <a:path w="5689600" h="73025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01813" b="-101813"/>
              </a:stretch>
            </a:blipFill>
          </p:spPr>
        </p:sp>
        <p:sp>
          <p:nvSpPr>
            <p:cNvPr id="10" name="TextBox 10"/>
            <p:cNvSpPr txBox="1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160"/>
                </a:lnSpc>
              </a:pPr>
              <a:r>
                <a:rPr lang="en-US" sz="1800" b="1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2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6972300" y="9534525"/>
            <a:ext cx="4806001" cy="547688"/>
            <a:chOff x="0" y="0"/>
            <a:chExt cx="6408001" cy="73025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6408000" cy="730250"/>
            </a:xfrm>
            <a:custGeom>
              <a:avLst/>
              <a:gdLst/>
              <a:ahLst/>
              <a:cxnLst/>
              <a:rect l="l" t="t" r="r" b="b"/>
              <a:pathLst>
                <a:path w="6408000" h="730250">
                  <a:moveTo>
                    <a:pt x="0" y="0"/>
                  </a:moveTo>
                  <a:lnTo>
                    <a:pt x="6408000" y="0"/>
                  </a:lnTo>
                  <a:lnTo>
                    <a:pt x="64080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20982" b="-120982"/>
              </a:stretch>
            </a:blipFill>
          </p:spPr>
        </p:sp>
        <p:sp>
          <p:nvSpPr>
            <p:cNvPr id="13" name="TextBox 13"/>
            <p:cNvSpPr txBox="1"/>
            <p:nvPr/>
          </p:nvSpPr>
          <p:spPr>
            <a:xfrm>
              <a:off x="0" y="-19050"/>
              <a:ext cx="6408001" cy="7493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@SIH Idea submission- Template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475612" y="359321"/>
            <a:ext cx="1915887" cy="1249099"/>
            <a:chOff x="0" y="0"/>
            <a:chExt cx="2554516" cy="1665465"/>
          </a:xfrm>
        </p:grpSpPr>
        <p:sp>
          <p:nvSpPr>
            <p:cNvPr id="15" name="Freeform 15" descr="Your startup LOGO"/>
            <p:cNvSpPr/>
            <p:nvPr/>
          </p:nvSpPr>
          <p:spPr>
            <a:xfrm>
              <a:off x="0" y="0"/>
              <a:ext cx="2554478" cy="1665478"/>
            </a:xfrm>
            <a:custGeom>
              <a:avLst/>
              <a:gdLst/>
              <a:ahLst/>
              <a:cxnLst/>
              <a:rect l="l" t="t" r="r" b="b"/>
              <a:pathLst>
                <a:path w="2554478" h="1665478">
                  <a:moveTo>
                    <a:pt x="0" y="832739"/>
                  </a:moveTo>
                  <a:cubicBezTo>
                    <a:pt x="0" y="372872"/>
                    <a:pt x="571881" y="0"/>
                    <a:pt x="1277239" y="0"/>
                  </a:cubicBezTo>
                  <a:cubicBezTo>
                    <a:pt x="1982597" y="0"/>
                    <a:pt x="2554478" y="372872"/>
                    <a:pt x="2554478" y="832739"/>
                  </a:cubicBezTo>
                  <a:cubicBezTo>
                    <a:pt x="2554478" y="1292606"/>
                    <a:pt x="1982597" y="1665478"/>
                    <a:pt x="1277239" y="1665478"/>
                  </a:cubicBezTo>
                  <a:cubicBezTo>
                    <a:pt x="571881" y="1665478"/>
                    <a:pt x="0" y="1292606"/>
                    <a:pt x="0" y="832739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8064A2"/>
              </a:solidFill>
              <a:prstDash val="solid"/>
              <a:miter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0" y="-57150"/>
              <a:ext cx="2554516" cy="172261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 dirty="0" err="1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CargoNex</a:t>
              </a:r>
              <a:endParaRPr lang="en-US" sz="27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endParaRPr>
            </a:p>
          </p:txBody>
        </p:sp>
      </p:grpSp>
      <p:sp>
        <p:nvSpPr>
          <p:cNvPr id="17" name="Freeform 17"/>
          <p:cNvSpPr/>
          <p:nvPr/>
        </p:nvSpPr>
        <p:spPr>
          <a:xfrm>
            <a:off x="15087600" y="0"/>
            <a:ext cx="3315677" cy="1810465"/>
          </a:xfrm>
          <a:custGeom>
            <a:avLst/>
            <a:gdLst/>
            <a:ahLst/>
            <a:cxnLst/>
            <a:rect l="l" t="t" r="r" b="b"/>
            <a:pathLst>
              <a:path w="3315677" h="1810465">
                <a:moveTo>
                  <a:pt x="0" y="0"/>
                </a:moveTo>
                <a:lnTo>
                  <a:pt x="3315677" y="0"/>
                </a:lnTo>
                <a:lnTo>
                  <a:pt x="3315677" y="1810465"/>
                </a:lnTo>
                <a:lnTo>
                  <a:pt x="0" y="18104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2EF98E17-F178-E4A5-9E6F-F884C446223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6589"/>
          <a:stretch>
            <a:fillRect/>
          </a:stretch>
        </p:blipFill>
        <p:spPr>
          <a:xfrm>
            <a:off x="2232237" y="879422"/>
            <a:ext cx="12543728" cy="874723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9532144"/>
            <a:ext cx="18288000" cy="754856"/>
            <a:chOff x="0" y="0"/>
            <a:chExt cx="24384000" cy="100647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006475"/>
            </a:xfrm>
            <a:custGeom>
              <a:avLst/>
              <a:gdLst/>
              <a:ahLst/>
              <a:cxnLst/>
              <a:rect l="l" t="t" r="r" b="b"/>
              <a:pathLst>
                <a:path w="24384000" h="1006475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914400" y="-71438"/>
            <a:ext cx="16459200" cy="1714500"/>
            <a:chOff x="0" y="0"/>
            <a:chExt cx="21945600" cy="228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1945600" cy="2286000"/>
            </a:xfrm>
            <a:custGeom>
              <a:avLst/>
              <a:gdLst/>
              <a:ahLst/>
              <a:cxnLst/>
              <a:rect l="l" t="t" r="r" b="b"/>
              <a:pathLst>
                <a:path w="21945600" h="22860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37056" b="-137056"/>
              </a:stretch>
            </a:blipFill>
          </p:spPr>
        </p:sp>
        <p:sp>
          <p:nvSpPr>
            <p:cNvPr id="6" name="TextBox 6"/>
            <p:cNvSpPr txBox="1"/>
            <p:nvPr/>
          </p:nvSpPr>
          <p:spPr>
            <a:xfrm>
              <a:off x="0" y="-28575"/>
              <a:ext cx="21945600" cy="231457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6480"/>
                </a:lnSpc>
              </a:pPr>
              <a:r>
                <a:rPr lang="en-US" sz="5400" b="1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TECHNICAL APPROACH</a:t>
              </a:r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1005840" y="3827145"/>
            <a:ext cx="13895070" cy="6412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80047" lvl="1" algn="just">
              <a:lnSpc>
                <a:spcPts val="5040"/>
              </a:lnSpc>
            </a:pPr>
            <a:endParaRPr lang="en-US" sz="420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8" name="Group 8"/>
          <p:cNvGrpSpPr/>
          <p:nvPr/>
        </p:nvGrpSpPr>
        <p:grpSpPr>
          <a:xfrm>
            <a:off x="13106400" y="9534525"/>
            <a:ext cx="4267200" cy="547688"/>
            <a:chOff x="0" y="0"/>
            <a:chExt cx="5689600" cy="73025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5689600" cy="730250"/>
            </a:xfrm>
            <a:custGeom>
              <a:avLst/>
              <a:gdLst/>
              <a:ahLst/>
              <a:cxnLst/>
              <a:rect l="l" t="t" r="r" b="b"/>
              <a:pathLst>
                <a:path w="5689600" h="73025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01813" b="-101813"/>
              </a:stretch>
            </a:blipFill>
          </p:spPr>
        </p:sp>
        <p:sp>
          <p:nvSpPr>
            <p:cNvPr id="10" name="TextBox 10"/>
            <p:cNvSpPr txBox="1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160"/>
                </a:lnSpc>
              </a:pPr>
              <a:r>
                <a:rPr lang="en-US" sz="1800" b="1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3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6972300" y="9534525"/>
            <a:ext cx="4806001" cy="547688"/>
            <a:chOff x="0" y="0"/>
            <a:chExt cx="6408001" cy="73025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6408000" cy="730250"/>
            </a:xfrm>
            <a:custGeom>
              <a:avLst/>
              <a:gdLst/>
              <a:ahLst/>
              <a:cxnLst/>
              <a:rect l="l" t="t" r="r" b="b"/>
              <a:pathLst>
                <a:path w="6408000" h="730250">
                  <a:moveTo>
                    <a:pt x="0" y="0"/>
                  </a:moveTo>
                  <a:lnTo>
                    <a:pt x="6408000" y="0"/>
                  </a:lnTo>
                  <a:lnTo>
                    <a:pt x="64080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20982" b="-120982"/>
              </a:stretch>
            </a:blipFill>
          </p:spPr>
        </p:sp>
        <p:sp>
          <p:nvSpPr>
            <p:cNvPr id="13" name="TextBox 13"/>
            <p:cNvSpPr txBox="1"/>
            <p:nvPr/>
          </p:nvSpPr>
          <p:spPr>
            <a:xfrm>
              <a:off x="0" y="-19050"/>
              <a:ext cx="6408001" cy="7493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@SIH Idea submission- Template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475612" y="359321"/>
            <a:ext cx="1915887" cy="1249099"/>
            <a:chOff x="0" y="0"/>
            <a:chExt cx="2554516" cy="1665465"/>
          </a:xfrm>
        </p:grpSpPr>
        <p:sp>
          <p:nvSpPr>
            <p:cNvPr id="15" name="Freeform 15" descr="Your startup LOGO"/>
            <p:cNvSpPr/>
            <p:nvPr/>
          </p:nvSpPr>
          <p:spPr>
            <a:xfrm>
              <a:off x="0" y="0"/>
              <a:ext cx="2554478" cy="1665478"/>
            </a:xfrm>
            <a:custGeom>
              <a:avLst/>
              <a:gdLst/>
              <a:ahLst/>
              <a:cxnLst/>
              <a:rect l="l" t="t" r="r" b="b"/>
              <a:pathLst>
                <a:path w="2554478" h="1665478">
                  <a:moveTo>
                    <a:pt x="0" y="832739"/>
                  </a:moveTo>
                  <a:cubicBezTo>
                    <a:pt x="0" y="372872"/>
                    <a:pt x="571881" y="0"/>
                    <a:pt x="1277239" y="0"/>
                  </a:cubicBezTo>
                  <a:cubicBezTo>
                    <a:pt x="1982597" y="0"/>
                    <a:pt x="2554478" y="372872"/>
                    <a:pt x="2554478" y="832739"/>
                  </a:cubicBezTo>
                  <a:cubicBezTo>
                    <a:pt x="2554478" y="1292606"/>
                    <a:pt x="1982597" y="1665478"/>
                    <a:pt x="1277239" y="1665478"/>
                  </a:cubicBezTo>
                  <a:cubicBezTo>
                    <a:pt x="571881" y="1665478"/>
                    <a:pt x="0" y="1292606"/>
                    <a:pt x="0" y="832739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8064A2"/>
              </a:solidFill>
              <a:prstDash val="solid"/>
              <a:miter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0" y="-57150"/>
              <a:ext cx="2554516" cy="172261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 dirty="0" err="1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CargoNex</a:t>
              </a:r>
              <a:endParaRPr lang="en-US" sz="27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endParaRPr>
            </a:p>
          </p:txBody>
        </p:sp>
      </p:grpSp>
      <p:sp>
        <p:nvSpPr>
          <p:cNvPr id="17" name="Freeform 17"/>
          <p:cNvSpPr/>
          <p:nvPr/>
        </p:nvSpPr>
        <p:spPr>
          <a:xfrm>
            <a:off x="15087600" y="0"/>
            <a:ext cx="3315677" cy="1810465"/>
          </a:xfrm>
          <a:custGeom>
            <a:avLst/>
            <a:gdLst/>
            <a:ahLst/>
            <a:cxnLst/>
            <a:rect l="l" t="t" r="r" b="b"/>
            <a:pathLst>
              <a:path w="3315677" h="1810465">
                <a:moveTo>
                  <a:pt x="0" y="0"/>
                </a:moveTo>
                <a:lnTo>
                  <a:pt x="3315677" y="0"/>
                </a:lnTo>
                <a:lnTo>
                  <a:pt x="3315677" y="1810465"/>
                </a:lnTo>
                <a:lnTo>
                  <a:pt x="0" y="18104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427F69FA-4328-247F-89F8-BC2FFE88D31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4467"/>
          <a:stretch>
            <a:fillRect/>
          </a:stretch>
        </p:blipFill>
        <p:spPr>
          <a:xfrm>
            <a:off x="475612" y="1689612"/>
            <a:ext cx="9049389" cy="7019694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8846C552-DEEA-E00D-EC23-429340690437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0459" y="1577694"/>
            <a:ext cx="9530024" cy="765204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9532144"/>
            <a:ext cx="18288000" cy="754856"/>
            <a:chOff x="0" y="0"/>
            <a:chExt cx="24384000" cy="100647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006475"/>
            </a:xfrm>
            <a:custGeom>
              <a:avLst/>
              <a:gdLst/>
              <a:ahLst/>
              <a:cxnLst/>
              <a:rect l="l" t="t" r="r" b="b"/>
              <a:pathLst>
                <a:path w="24384000" h="1006475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914400" y="-71438"/>
            <a:ext cx="16459200" cy="1714500"/>
            <a:chOff x="0" y="0"/>
            <a:chExt cx="21945600" cy="228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1945600" cy="2286000"/>
            </a:xfrm>
            <a:custGeom>
              <a:avLst/>
              <a:gdLst/>
              <a:ahLst/>
              <a:cxnLst/>
              <a:rect l="l" t="t" r="r" b="b"/>
              <a:pathLst>
                <a:path w="21945600" h="22860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37056" b="-137056"/>
              </a:stretch>
            </a:blipFill>
          </p:spPr>
        </p:sp>
        <p:sp>
          <p:nvSpPr>
            <p:cNvPr id="6" name="TextBox 6"/>
            <p:cNvSpPr txBox="1"/>
            <p:nvPr/>
          </p:nvSpPr>
          <p:spPr>
            <a:xfrm>
              <a:off x="0" y="-28575"/>
              <a:ext cx="21945600" cy="231457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6480"/>
                </a:lnSpc>
              </a:pPr>
              <a:r>
                <a:rPr lang="en-US" sz="5400" b="1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FEASIBILITY AND VIABILITY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3106400" y="9534525"/>
            <a:ext cx="4267200" cy="547688"/>
            <a:chOff x="0" y="0"/>
            <a:chExt cx="5689600" cy="73025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5689600" cy="730250"/>
            </a:xfrm>
            <a:custGeom>
              <a:avLst/>
              <a:gdLst/>
              <a:ahLst/>
              <a:cxnLst/>
              <a:rect l="l" t="t" r="r" b="b"/>
              <a:pathLst>
                <a:path w="5689600" h="73025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01813" b="-101813"/>
              </a:stretch>
            </a:blipFill>
          </p:spPr>
        </p:sp>
        <p:sp>
          <p:nvSpPr>
            <p:cNvPr id="10" name="TextBox 10"/>
            <p:cNvSpPr txBox="1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160"/>
                </a:lnSpc>
              </a:pPr>
              <a:r>
                <a:rPr lang="en-US" sz="1800" b="1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4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6972300" y="9534525"/>
            <a:ext cx="4806001" cy="547688"/>
            <a:chOff x="0" y="0"/>
            <a:chExt cx="6408001" cy="73025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6408000" cy="730250"/>
            </a:xfrm>
            <a:custGeom>
              <a:avLst/>
              <a:gdLst/>
              <a:ahLst/>
              <a:cxnLst/>
              <a:rect l="l" t="t" r="r" b="b"/>
              <a:pathLst>
                <a:path w="6408000" h="730250">
                  <a:moveTo>
                    <a:pt x="0" y="0"/>
                  </a:moveTo>
                  <a:lnTo>
                    <a:pt x="6408000" y="0"/>
                  </a:lnTo>
                  <a:lnTo>
                    <a:pt x="64080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20982" b="-120982"/>
              </a:stretch>
            </a:blipFill>
          </p:spPr>
        </p:sp>
        <p:sp>
          <p:nvSpPr>
            <p:cNvPr id="13" name="TextBox 13"/>
            <p:cNvSpPr txBox="1"/>
            <p:nvPr/>
          </p:nvSpPr>
          <p:spPr>
            <a:xfrm>
              <a:off x="0" y="-19050"/>
              <a:ext cx="6408001" cy="7493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@SIH Idea submission- Template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475612" y="359321"/>
            <a:ext cx="1915887" cy="1249099"/>
            <a:chOff x="0" y="0"/>
            <a:chExt cx="2554516" cy="1665465"/>
          </a:xfrm>
        </p:grpSpPr>
        <p:sp>
          <p:nvSpPr>
            <p:cNvPr id="15" name="Freeform 15" descr="Your startup LOGO"/>
            <p:cNvSpPr/>
            <p:nvPr/>
          </p:nvSpPr>
          <p:spPr>
            <a:xfrm>
              <a:off x="0" y="0"/>
              <a:ext cx="2554478" cy="1665478"/>
            </a:xfrm>
            <a:custGeom>
              <a:avLst/>
              <a:gdLst/>
              <a:ahLst/>
              <a:cxnLst/>
              <a:rect l="l" t="t" r="r" b="b"/>
              <a:pathLst>
                <a:path w="2554478" h="1665478">
                  <a:moveTo>
                    <a:pt x="0" y="832739"/>
                  </a:moveTo>
                  <a:cubicBezTo>
                    <a:pt x="0" y="372872"/>
                    <a:pt x="571881" y="0"/>
                    <a:pt x="1277239" y="0"/>
                  </a:cubicBezTo>
                  <a:cubicBezTo>
                    <a:pt x="1982597" y="0"/>
                    <a:pt x="2554478" y="372872"/>
                    <a:pt x="2554478" y="832739"/>
                  </a:cubicBezTo>
                  <a:cubicBezTo>
                    <a:pt x="2554478" y="1292606"/>
                    <a:pt x="1982597" y="1665478"/>
                    <a:pt x="1277239" y="1665478"/>
                  </a:cubicBezTo>
                  <a:cubicBezTo>
                    <a:pt x="571881" y="1665478"/>
                    <a:pt x="0" y="1292606"/>
                    <a:pt x="0" y="832739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8064A2"/>
              </a:solidFill>
              <a:prstDash val="solid"/>
              <a:miter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0" y="-57150"/>
              <a:ext cx="2554516" cy="172261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 dirty="0" err="1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CargoNex</a:t>
              </a:r>
              <a:endParaRPr lang="en-US" sz="27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endParaRPr>
            </a:p>
          </p:txBody>
        </p:sp>
      </p:grpSp>
      <p:sp>
        <p:nvSpPr>
          <p:cNvPr id="17" name="Freeform 17"/>
          <p:cNvSpPr/>
          <p:nvPr/>
        </p:nvSpPr>
        <p:spPr>
          <a:xfrm>
            <a:off x="15087600" y="0"/>
            <a:ext cx="3315677" cy="1810465"/>
          </a:xfrm>
          <a:custGeom>
            <a:avLst/>
            <a:gdLst/>
            <a:ahLst/>
            <a:cxnLst/>
            <a:rect l="l" t="t" r="r" b="b"/>
            <a:pathLst>
              <a:path w="3315677" h="1810465">
                <a:moveTo>
                  <a:pt x="0" y="0"/>
                </a:moveTo>
                <a:lnTo>
                  <a:pt x="3315677" y="0"/>
                </a:lnTo>
                <a:lnTo>
                  <a:pt x="3315677" y="1810465"/>
                </a:lnTo>
                <a:lnTo>
                  <a:pt x="0" y="18104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16A3200F-0B26-DD29-98F8-95BA6B4C3E0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3498" b="6653"/>
          <a:stretch>
            <a:fillRect/>
          </a:stretch>
        </p:blipFill>
        <p:spPr>
          <a:xfrm>
            <a:off x="0" y="1620327"/>
            <a:ext cx="18288000" cy="770703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9532144"/>
            <a:ext cx="18288000" cy="754856"/>
            <a:chOff x="0" y="0"/>
            <a:chExt cx="24384000" cy="100647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006475"/>
            </a:xfrm>
            <a:custGeom>
              <a:avLst/>
              <a:gdLst/>
              <a:ahLst/>
              <a:cxnLst/>
              <a:rect l="l" t="t" r="r" b="b"/>
              <a:pathLst>
                <a:path w="24384000" h="1006475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914400" y="-71438"/>
            <a:ext cx="16459200" cy="1714500"/>
            <a:chOff x="0" y="0"/>
            <a:chExt cx="21945600" cy="228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1945600" cy="2286000"/>
            </a:xfrm>
            <a:custGeom>
              <a:avLst/>
              <a:gdLst/>
              <a:ahLst/>
              <a:cxnLst/>
              <a:rect l="l" t="t" r="r" b="b"/>
              <a:pathLst>
                <a:path w="21945600" h="22860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37056" b="-137056"/>
              </a:stretch>
            </a:blipFill>
          </p:spPr>
        </p:sp>
        <p:sp>
          <p:nvSpPr>
            <p:cNvPr id="6" name="TextBox 6"/>
            <p:cNvSpPr txBox="1"/>
            <p:nvPr/>
          </p:nvSpPr>
          <p:spPr>
            <a:xfrm>
              <a:off x="0" y="-28575"/>
              <a:ext cx="21945600" cy="231457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6480"/>
                </a:lnSpc>
              </a:pPr>
              <a:r>
                <a:rPr lang="en-US" sz="5400" b="1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IMPACT AND BENEFITS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3106400" y="9534525"/>
            <a:ext cx="4267200" cy="547688"/>
            <a:chOff x="0" y="0"/>
            <a:chExt cx="5689600" cy="73025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5689600" cy="730250"/>
            </a:xfrm>
            <a:custGeom>
              <a:avLst/>
              <a:gdLst/>
              <a:ahLst/>
              <a:cxnLst/>
              <a:rect l="l" t="t" r="r" b="b"/>
              <a:pathLst>
                <a:path w="5689600" h="73025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01813" b="-101813"/>
              </a:stretch>
            </a:blipFill>
          </p:spPr>
        </p:sp>
        <p:sp>
          <p:nvSpPr>
            <p:cNvPr id="10" name="TextBox 10"/>
            <p:cNvSpPr txBox="1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160"/>
                </a:lnSpc>
              </a:pPr>
              <a:r>
                <a:rPr lang="en-US" sz="1800" b="1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5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6972300" y="9534525"/>
            <a:ext cx="4806001" cy="547688"/>
            <a:chOff x="0" y="0"/>
            <a:chExt cx="6408001" cy="73025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6408000" cy="730250"/>
            </a:xfrm>
            <a:custGeom>
              <a:avLst/>
              <a:gdLst/>
              <a:ahLst/>
              <a:cxnLst/>
              <a:rect l="l" t="t" r="r" b="b"/>
              <a:pathLst>
                <a:path w="6408000" h="730250">
                  <a:moveTo>
                    <a:pt x="0" y="0"/>
                  </a:moveTo>
                  <a:lnTo>
                    <a:pt x="6408000" y="0"/>
                  </a:lnTo>
                  <a:lnTo>
                    <a:pt x="64080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20982" b="-120982"/>
              </a:stretch>
            </a:blipFill>
          </p:spPr>
        </p:sp>
        <p:sp>
          <p:nvSpPr>
            <p:cNvPr id="13" name="TextBox 13"/>
            <p:cNvSpPr txBox="1"/>
            <p:nvPr/>
          </p:nvSpPr>
          <p:spPr>
            <a:xfrm>
              <a:off x="0" y="-19050"/>
              <a:ext cx="6408001" cy="7493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@SIH Idea submission- Template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475612" y="359321"/>
            <a:ext cx="1915887" cy="1249099"/>
            <a:chOff x="0" y="0"/>
            <a:chExt cx="2554516" cy="1665465"/>
          </a:xfrm>
        </p:grpSpPr>
        <p:sp>
          <p:nvSpPr>
            <p:cNvPr id="15" name="Freeform 15" descr="Your startup LOGO"/>
            <p:cNvSpPr/>
            <p:nvPr/>
          </p:nvSpPr>
          <p:spPr>
            <a:xfrm>
              <a:off x="0" y="0"/>
              <a:ext cx="2554478" cy="1665478"/>
            </a:xfrm>
            <a:custGeom>
              <a:avLst/>
              <a:gdLst/>
              <a:ahLst/>
              <a:cxnLst/>
              <a:rect l="l" t="t" r="r" b="b"/>
              <a:pathLst>
                <a:path w="2554478" h="1665478">
                  <a:moveTo>
                    <a:pt x="0" y="832739"/>
                  </a:moveTo>
                  <a:cubicBezTo>
                    <a:pt x="0" y="372872"/>
                    <a:pt x="571881" y="0"/>
                    <a:pt x="1277239" y="0"/>
                  </a:cubicBezTo>
                  <a:cubicBezTo>
                    <a:pt x="1982597" y="0"/>
                    <a:pt x="2554478" y="372872"/>
                    <a:pt x="2554478" y="832739"/>
                  </a:cubicBezTo>
                  <a:cubicBezTo>
                    <a:pt x="2554478" y="1292606"/>
                    <a:pt x="1982597" y="1665478"/>
                    <a:pt x="1277239" y="1665478"/>
                  </a:cubicBezTo>
                  <a:cubicBezTo>
                    <a:pt x="571881" y="1665478"/>
                    <a:pt x="0" y="1292606"/>
                    <a:pt x="0" y="832739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8064A2"/>
              </a:solidFill>
              <a:prstDash val="solid"/>
              <a:miter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0" y="-57150"/>
              <a:ext cx="2554516" cy="172261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 dirty="0" err="1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CargoNex</a:t>
              </a:r>
              <a:endParaRPr lang="en-US" sz="27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endParaRPr>
            </a:p>
          </p:txBody>
        </p:sp>
      </p:grpSp>
      <p:sp>
        <p:nvSpPr>
          <p:cNvPr id="17" name="Freeform 17"/>
          <p:cNvSpPr/>
          <p:nvPr/>
        </p:nvSpPr>
        <p:spPr>
          <a:xfrm>
            <a:off x="15087600" y="0"/>
            <a:ext cx="3315677" cy="1810465"/>
          </a:xfrm>
          <a:custGeom>
            <a:avLst/>
            <a:gdLst/>
            <a:ahLst/>
            <a:cxnLst/>
            <a:rect l="l" t="t" r="r" b="b"/>
            <a:pathLst>
              <a:path w="3315677" h="1810465">
                <a:moveTo>
                  <a:pt x="0" y="0"/>
                </a:moveTo>
                <a:lnTo>
                  <a:pt x="3315677" y="0"/>
                </a:lnTo>
                <a:lnTo>
                  <a:pt x="3315677" y="1810465"/>
                </a:lnTo>
                <a:lnTo>
                  <a:pt x="0" y="18104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69B4F266-AA2E-98C3-1ECE-9275F215652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1403" b="5055"/>
          <a:stretch>
            <a:fillRect/>
          </a:stretch>
        </p:blipFill>
        <p:spPr>
          <a:xfrm>
            <a:off x="475612" y="2052388"/>
            <a:ext cx="8919353" cy="6596311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85604FF-5937-BDD1-0489-B572893F3C20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577"/>
          <a:stretch>
            <a:fillRect/>
          </a:stretch>
        </p:blipFill>
        <p:spPr>
          <a:xfrm>
            <a:off x="9394965" y="1485900"/>
            <a:ext cx="8207235" cy="7543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9532144"/>
            <a:ext cx="18288000" cy="754856"/>
            <a:chOff x="0" y="0"/>
            <a:chExt cx="24384000" cy="100647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006475"/>
            </a:xfrm>
            <a:custGeom>
              <a:avLst/>
              <a:gdLst/>
              <a:ahLst/>
              <a:cxnLst/>
              <a:rect l="l" t="t" r="r" b="b"/>
              <a:pathLst>
                <a:path w="24384000" h="1006475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914400" y="-71438"/>
            <a:ext cx="16459200" cy="1714500"/>
            <a:chOff x="0" y="0"/>
            <a:chExt cx="21945600" cy="228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1945600" cy="2286000"/>
            </a:xfrm>
            <a:custGeom>
              <a:avLst/>
              <a:gdLst/>
              <a:ahLst/>
              <a:cxnLst/>
              <a:rect l="l" t="t" r="r" b="b"/>
              <a:pathLst>
                <a:path w="21945600" h="22860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37056" b="-137056"/>
              </a:stretch>
            </a:blipFill>
          </p:spPr>
        </p:sp>
        <p:sp>
          <p:nvSpPr>
            <p:cNvPr id="6" name="TextBox 6"/>
            <p:cNvSpPr txBox="1"/>
            <p:nvPr/>
          </p:nvSpPr>
          <p:spPr>
            <a:xfrm>
              <a:off x="0" y="-28575"/>
              <a:ext cx="21945600" cy="231457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6480"/>
                </a:lnSpc>
              </a:pPr>
              <a:r>
                <a:rPr lang="en-US" sz="5400" b="1" dirty="0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RESEARCH AND REFERENCES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3106400" y="9534525"/>
            <a:ext cx="4267200" cy="547688"/>
            <a:chOff x="0" y="0"/>
            <a:chExt cx="5689600" cy="73025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5689600" cy="730250"/>
            </a:xfrm>
            <a:custGeom>
              <a:avLst/>
              <a:gdLst/>
              <a:ahLst/>
              <a:cxnLst/>
              <a:rect l="l" t="t" r="r" b="b"/>
              <a:pathLst>
                <a:path w="5689600" h="73025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01813" b="-101813"/>
              </a:stretch>
            </a:blipFill>
          </p:spPr>
        </p:sp>
        <p:sp>
          <p:nvSpPr>
            <p:cNvPr id="10" name="TextBox 10"/>
            <p:cNvSpPr txBox="1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160"/>
                </a:lnSpc>
              </a:pPr>
              <a:r>
                <a:rPr lang="en-US" sz="1800" b="1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6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6972300" y="9534525"/>
            <a:ext cx="4806001" cy="547688"/>
            <a:chOff x="0" y="0"/>
            <a:chExt cx="6408001" cy="73025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6408000" cy="730250"/>
            </a:xfrm>
            <a:custGeom>
              <a:avLst/>
              <a:gdLst/>
              <a:ahLst/>
              <a:cxnLst/>
              <a:rect l="l" t="t" r="r" b="b"/>
              <a:pathLst>
                <a:path w="6408000" h="730250">
                  <a:moveTo>
                    <a:pt x="0" y="0"/>
                  </a:moveTo>
                  <a:lnTo>
                    <a:pt x="6408000" y="0"/>
                  </a:lnTo>
                  <a:lnTo>
                    <a:pt x="64080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20982" b="-120982"/>
              </a:stretch>
            </a:blipFill>
          </p:spPr>
        </p:sp>
        <p:sp>
          <p:nvSpPr>
            <p:cNvPr id="13" name="TextBox 13"/>
            <p:cNvSpPr txBox="1"/>
            <p:nvPr/>
          </p:nvSpPr>
          <p:spPr>
            <a:xfrm>
              <a:off x="0" y="-19050"/>
              <a:ext cx="6408001" cy="7493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@SIH Idea submission- Template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475612" y="359321"/>
            <a:ext cx="1915887" cy="1249099"/>
            <a:chOff x="0" y="0"/>
            <a:chExt cx="2554516" cy="1665465"/>
          </a:xfrm>
        </p:grpSpPr>
        <p:sp>
          <p:nvSpPr>
            <p:cNvPr id="15" name="Freeform 15" descr="Your startup LOGO"/>
            <p:cNvSpPr/>
            <p:nvPr/>
          </p:nvSpPr>
          <p:spPr>
            <a:xfrm>
              <a:off x="0" y="0"/>
              <a:ext cx="2554478" cy="1665478"/>
            </a:xfrm>
            <a:custGeom>
              <a:avLst/>
              <a:gdLst/>
              <a:ahLst/>
              <a:cxnLst/>
              <a:rect l="l" t="t" r="r" b="b"/>
              <a:pathLst>
                <a:path w="2554478" h="1665478">
                  <a:moveTo>
                    <a:pt x="0" y="832739"/>
                  </a:moveTo>
                  <a:cubicBezTo>
                    <a:pt x="0" y="372872"/>
                    <a:pt x="571881" y="0"/>
                    <a:pt x="1277239" y="0"/>
                  </a:cubicBezTo>
                  <a:cubicBezTo>
                    <a:pt x="1982597" y="0"/>
                    <a:pt x="2554478" y="372872"/>
                    <a:pt x="2554478" y="832739"/>
                  </a:cubicBezTo>
                  <a:cubicBezTo>
                    <a:pt x="2554478" y="1292606"/>
                    <a:pt x="1982597" y="1665478"/>
                    <a:pt x="1277239" y="1665478"/>
                  </a:cubicBezTo>
                  <a:cubicBezTo>
                    <a:pt x="571881" y="1665478"/>
                    <a:pt x="0" y="1292606"/>
                    <a:pt x="0" y="832739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8064A2"/>
              </a:solidFill>
              <a:prstDash val="solid"/>
              <a:miter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0" y="-57150"/>
              <a:ext cx="2554516" cy="172261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 dirty="0" err="1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CargoNex</a:t>
              </a:r>
              <a:endParaRPr lang="en-US" sz="27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endParaRPr>
            </a:p>
          </p:txBody>
        </p:sp>
      </p:grpSp>
      <p:sp>
        <p:nvSpPr>
          <p:cNvPr id="17" name="Freeform 17"/>
          <p:cNvSpPr/>
          <p:nvPr/>
        </p:nvSpPr>
        <p:spPr>
          <a:xfrm>
            <a:off x="15087600" y="0"/>
            <a:ext cx="3315677" cy="1810465"/>
          </a:xfrm>
          <a:custGeom>
            <a:avLst/>
            <a:gdLst/>
            <a:ahLst/>
            <a:cxnLst/>
            <a:rect l="l" t="t" r="r" b="b"/>
            <a:pathLst>
              <a:path w="3315677" h="1810465">
                <a:moveTo>
                  <a:pt x="0" y="0"/>
                </a:moveTo>
                <a:lnTo>
                  <a:pt x="3315677" y="0"/>
                </a:lnTo>
                <a:lnTo>
                  <a:pt x="3315677" y="1810465"/>
                </a:lnTo>
                <a:lnTo>
                  <a:pt x="0" y="18104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EBE78721-44D5-F3D8-A977-AC24BEAA469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0741"/>
          <a:stretch>
            <a:fillRect/>
          </a:stretch>
        </p:blipFill>
        <p:spPr>
          <a:xfrm>
            <a:off x="1638300" y="1057454"/>
            <a:ext cx="15011399" cy="8839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583</TotalTime>
  <Words>111</Words>
  <Application>Microsoft Office PowerPoint</Application>
  <PresentationFormat>Custom</PresentationFormat>
  <Paragraphs>46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5" baseType="lpstr">
      <vt:lpstr>Calibri (MS)</vt:lpstr>
      <vt:lpstr>Times New Roman Bold</vt:lpstr>
      <vt:lpstr>Arimo Bold</vt:lpstr>
      <vt:lpstr>Arial</vt:lpstr>
      <vt:lpstr>Garamond Bold</vt:lpstr>
      <vt:lpstr>Calibri</vt:lpstr>
      <vt:lpstr>Arimo</vt:lpstr>
      <vt:lpstr>Arial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SIH2026-IDEA-Presentation-Format .pptx</dc:title>
  <cp:lastModifiedBy>Sankhadeep Bera</cp:lastModifiedBy>
  <cp:revision>24</cp:revision>
  <dcterms:created xsi:type="dcterms:W3CDTF">2006-08-16T00:00:00Z</dcterms:created>
  <dcterms:modified xsi:type="dcterms:W3CDTF">2026-09-22T07:55:53Z</dcterms:modified>
  <dc:identifier>DAHU0RjdNaA</dc:identifier>
</cp:coreProperties>
</file>